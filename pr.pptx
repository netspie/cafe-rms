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28.png"/><Relationship Id="rId1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67000" y="1371600"/>
            <a:ext cx="730944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6067"/>
                </a:solidFill>
                <a:effectLst/>
                <a:uFillTx/>
                <a:latin typeface="Arial"/>
                <a:ea typeface="Arial"/>
              </a:rPr>
              <a:t>Projekt inżynierski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567000" y="1737360"/>
            <a:ext cx="8223840" cy="13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CafeRMS</a:t>
            </a:r>
            <a:endParaRPr lang="en-US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567000" y="3127320"/>
            <a:ext cx="785808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System zarządzania kawiarnią z obsługą zamówień online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i organizacją wydarzeń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7000" y="5139000"/>
            <a:ext cx="45662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Dariusz Luśnia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4"/>
          <p:cNvSpPr/>
          <p:nvPr/>
        </p:nvSpPr>
        <p:spPr>
          <a:xfrm>
            <a:off x="567000" y="5486400"/>
            <a:ext cx="456624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0AA"/>
                </a:solidFill>
                <a:effectLst/>
                <a:uFillTx/>
                <a:latin typeface="Arial"/>
                <a:ea typeface="Arial"/>
              </a:rPr>
              <a:t>Programista aplikacji </a:t>
            </a:r>
            <a:r>
              <a:rPr lang="en-US" sz="1300" b="0" u="none" strike="noStrike">
                <a:solidFill>
                  <a:srgbClr val="9AA0AA"/>
                </a:solidFill>
                <a:effectLst/>
                <a:uFillTx/>
                <a:latin typeface="Arial"/>
                <a:ea typeface="Arial"/>
              </a:rPr>
              <a:t>biznesowych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5"/>
          <p:cNvSpPr/>
          <p:nvPr/>
        </p:nvSpPr>
        <p:spPr>
          <a:xfrm>
            <a:off x="5760720" y="5139000"/>
            <a:ext cx="4109040" cy="3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760720" y="5486400"/>
            <a:ext cx="410904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AA0AA"/>
                </a:solidFill>
                <a:effectLst/>
                <a:uFillTx/>
                <a:latin typeface="Arial"/>
                <a:ea typeface="Arial"/>
              </a:rPr>
              <a:t>WSB-NLU, 24.09.2026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Dlaczego </a:t>
            </a: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i dla </a:t>
            </a: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kogo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567000" y="1572840"/>
            <a:ext cx="4657680" cy="413712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51120" y="1901880"/>
            <a:ext cx="4109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A6067"/>
                </a:solidFill>
                <a:effectLst/>
                <a:uFillTx/>
                <a:latin typeface="Arial"/>
                <a:ea typeface="Arial"/>
              </a:rPr>
              <a:t>Dla kogo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951120" y="2340720"/>
            <a:ext cx="3889440" cy="11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Małe, tematyczne kawiarnie, które obok gastronomii prowadzą wydarzenia.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951120" y="4096440"/>
            <a:ext cx="3889440" cy="9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532120" y="1572840"/>
            <a:ext cx="6102360" cy="122328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6186240" y="1958760"/>
            <a:ext cx="286920" cy="451440"/>
          </a:xfrm>
          <a:prstGeom prst="roundRect">
            <a:avLst>
              <a:gd name="adj" fmla="val 15625"/>
            </a:avLst>
          </a:prstGeom>
          <a:noFill/>
          <a:ln w="22225">
            <a:solidFill>
              <a:srgbClr val="CA60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6277680" y="2342880"/>
            <a:ext cx="104040" cy="1260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2200" tIns="-26640" rIns="52200" bIns="-26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032240" y="1572840"/>
            <a:ext cx="44024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       Zamówienia online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5532120" y="3029760"/>
            <a:ext cx="6102360" cy="122328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172560" y="3690000"/>
            <a:ext cx="76680" cy="17712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520" tIns="45000" rIns="385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6291360" y="3570840"/>
            <a:ext cx="76680" cy="29592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520" tIns="45000" rIns="385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410160" y="3415680"/>
            <a:ext cx="76680" cy="45144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520" tIns="45000" rIns="385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7032240" y="3029760"/>
            <a:ext cx="44024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       Ewidencja sprzedaży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5532120" y="4486680"/>
            <a:ext cx="6102360" cy="122328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6122160" y="4927680"/>
            <a:ext cx="414720" cy="396720"/>
          </a:xfrm>
          <a:prstGeom prst="rect">
            <a:avLst/>
          </a:prstGeom>
          <a:noFill/>
          <a:ln w="22225">
            <a:solidFill>
              <a:srgbClr val="CA60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6122160" y="4927680"/>
            <a:ext cx="414720" cy="9468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6213600" y="4872600"/>
            <a:ext cx="30960" cy="6732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480" tIns="28080" rIns="15480" bIns="28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6396480" y="4872600"/>
            <a:ext cx="30960" cy="6732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480" tIns="28080" rIns="15480" bIns="28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7032240" y="4486680"/>
            <a:ext cx="44024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       Organizacja wydarzeń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Architektura systemu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250560" y="1550520"/>
            <a:ext cx="3533040" cy="36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484160" y="5486400"/>
            <a:ext cx="353304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ctr"/>
              </a:tabLst>
            </a:pPr>
            <a:r>
              <a:rPr lang="en-US" sz="20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Panel konfiguracyjny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4484160" y="5897880"/>
            <a:ext cx="3533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ctr"/>
              </a:tabLst>
            </a:pPr>
            <a:r>
              <a:rPr lang="en-US" sz="1300" b="1" u="none" strike="noStrike">
                <a:solidFill>
                  <a:srgbClr val="CA6067"/>
                </a:solidFill>
                <a:effectLst/>
                <a:uFillTx/>
                <a:latin typeface="Arial"/>
                <a:ea typeface="Arial"/>
              </a:rPr>
              <a:t>Dla Personelu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4026960" y="1550520"/>
            <a:ext cx="3533040" cy="36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8811000" y="5486400"/>
            <a:ext cx="353304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ctr"/>
              </a:tabLst>
            </a:pPr>
            <a:r>
              <a:rPr lang="en-US" sz="20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Aplikacja mobilna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8811000" y="5897880"/>
            <a:ext cx="3533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ctr"/>
              </a:tabLst>
            </a:pPr>
            <a:r>
              <a:rPr lang="en-US" sz="1300" b="1" u="none" strike="noStrike">
                <a:solidFill>
                  <a:srgbClr val="53749D"/>
                </a:solidFill>
                <a:effectLst/>
                <a:uFillTx/>
                <a:latin typeface="Arial"/>
                <a:ea typeface="Arial"/>
              </a:rPr>
              <a:t>Dla Klienta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-228600" y="5897880"/>
            <a:ext cx="353304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ctr"/>
              </a:tabLst>
            </a:pPr>
            <a:r>
              <a:rPr lang="en-US" sz="1300" b="1" u="none" strike="noStrike">
                <a:solidFill>
                  <a:srgbClr val="7A818D"/>
                </a:solidFill>
                <a:effectLst/>
                <a:uFillTx/>
                <a:latin typeface="Arial"/>
                <a:ea typeface="Arial"/>
              </a:rPr>
              <a:t>Dla Systemu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7803360" y="1550520"/>
            <a:ext cx="3533040" cy="36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-228600" y="5486400"/>
            <a:ext cx="3533040" cy="3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ctr"/>
              </a:tabLst>
            </a:pPr>
            <a:r>
              <a:rPr lang="en-US" sz="20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Wspólne API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/>
          <p:cNvPicPr/>
          <p:nvPr/>
        </p:nvPicPr>
        <p:blipFill>
          <a:blip r:embed="rId1"/>
          <a:srcRect l="0" t="0" r="38757" b="47026"/>
          <a:stretch/>
        </p:blipFill>
        <p:spPr>
          <a:xfrm>
            <a:off x="623880" y="1735200"/>
            <a:ext cx="1827720" cy="356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/>
          <p:cNvPicPr/>
          <p:nvPr/>
        </p:nvPicPr>
        <p:blipFill>
          <a:blip r:embed="rId2"/>
          <a:stretch/>
        </p:blipFill>
        <p:spPr>
          <a:xfrm>
            <a:off x="9636480" y="1642680"/>
            <a:ext cx="1827720" cy="375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/>
          <p:cNvPicPr/>
          <p:nvPr/>
        </p:nvPicPr>
        <p:blipFill>
          <a:blip r:embed="rId3"/>
          <a:srcRect l="0" t="0" r="17756" b="0"/>
          <a:stretch/>
        </p:blipFill>
        <p:spPr>
          <a:xfrm>
            <a:off x="2919600" y="1695960"/>
            <a:ext cx="6248880" cy="364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Lokal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Zrzut"/>
          <p:cNvPicPr/>
          <p:nvPr/>
        </p:nvPicPr>
        <p:blipFill>
          <a:blip r:embed="rId1"/>
          <a:stretch/>
        </p:blipFill>
        <p:spPr>
          <a:xfrm>
            <a:off x="2205720" y="1600200"/>
            <a:ext cx="778572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Stoliki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Zrzut"/>
          <p:cNvPicPr/>
          <p:nvPr/>
        </p:nvPicPr>
        <p:blipFill>
          <a:blip r:embed="rId1"/>
          <a:stretch/>
        </p:blipFill>
        <p:spPr>
          <a:xfrm>
            <a:off x="2205720" y="1600200"/>
            <a:ext cx="778572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Produkty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Zrzut"/>
          <p:cNvPicPr/>
          <p:nvPr/>
        </p:nvPicPr>
        <p:blipFill>
          <a:blip r:embed="rId1"/>
          <a:stretch/>
        </p:blipFill>
        <p:spPr>
          <a:xfrm>
            <a:off x="2205720" y="1600200"/>
            <a:ext cx="778572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Listy menu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Zrzut"/>
          <p:cNvPicPr/>
          <p:nvPr/>
        </p:nvPicPr>
        <p:blipFill>
          <a:blip r:embed="rId1"/>
          <a:stretch/>
        </p:blipFill>
        <p:spPr>
          <a:xfrm>
            <a:off x="2205720" y="1600200"/>
            <a:ext cx="778572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Podatki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Zrzut"/>
          <p:cNvPicPr/>
          <p:nvPr/>
        </p:nvPicPr>
        <p:blipFill>
          <a:blip r:embed="rId1"/>
          <a:stretch/>
        </p:blipFill>
        <p:spPr>
          <a:xfrm>
            <a:off x="2029680" y="1600200"/>
            <a:ext cx="813744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Ceny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Zrzut"/>
          <p:cNvPicPr/>
          <p:nvPr/>
        </p:nvPicPr>
        <p:blipFill>
          <a:blip r:embed="rId1"/>
          <a:stretch/>
        </p:blipFill>
        <p:spPr>
          <a:xfrm>
            <a:off x="2029680" y="1600200"/>
            <a:ext cx="813744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Kanały sprzedaży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Zrzut"/>
          <p:cNvPicPr/>
          <p:nvPr/>
        </p:nvPicPr>
        <p:blipFill>
          <a:blip r:embed="rId1"/>
          <a:stretch/>
        </p:blipFill>
        <p:spPr>
          <a:xfrm>
            <a:off x="2029680" y="1600200"/>
            <a:ext cx="813744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Kody promocyjne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Zrzut"/>
          <p:cNvPicPr/>
          <p:nvPr/>
        </p:nvPicPr>
        <p:blipFill>
          <a:blip r:embed="rId1"/>
          <a:stretch/>
        </p:blipFill>
        <p:spPr>
          <a:xfrm>
            <a:off x="2029680" y="1600200"/>
            <a:ext cx="813744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0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Wydarzenia i oferty specjalne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Zrzut"/>
          <p:cNvPicPr/>
          <p:nvPr/>
        </p:nvPicPr>
        <p:blipFill>
          <a:blip r:embed="rId1"/>
          <a:stretch/>
        </p:blipFill>
        <p:spPr>
          <a:xfrm>
            <a:off x="2155320" y="1600200"/>
            <a:ext cx="788616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Zamówienia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Zrzut"/>
          <p:cNvPicPr/>
          <p:nvPr/>
        </p:nvPicPr>
        <p:blipFill>
          <a:blip r:embed="rId1"/>
          <a:stretch/>
        </p:blipFill>
        <p:spPr>
          <a:xfrm>
            <a:off x="2029680" y="1600200"/>
            <a:ext cx="813744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Raporty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Zrzut"/>
          <p:cNvPicPr/>
          <p:nvPr/>
        </p:nvPicPr>
        <p:blipFill>
          <a:blip r:embed="rId1"/>
          <a:stretch/>
        </p:blipFill>
        <p:spPr>
          <a:xfrm>
            <a:off x="2029680" y="1600200"/>
            <a:ext cx="8137440" cy="498240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Raporty: sprzedaż wg produktów i frekwencja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Zrzut"/>
          <p:cNvPicPr/>
          <p:nvPr/>
        </p:nvPicPr>
        <p:blipFill>
          <a:blip r:embed="rId1"/>
          <a:stretch/>
        </p:blipFill>
        <p:spPr>
          <a:xfrm>
            <a:off x="3184200" y="1691640"/>
            <a:ext cx="2749680" cy="435204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  <p:sp>
        <p:nvSpPr>
          <p:cNvPr id="68" name="Podpis Sprzedaż wg produktów"/>
          <p:cNvSpPr/>
          <p:nvPr/>
        </p:nvSpPr>
        <p:spPr>
          <a:xfrm>
            <a:off x="3184200" y="6172200"/>
            <a:ext cx="274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Sprzedaż wg produktów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Zrzut"/>
          <p:cNvPicPr/>
          <p:nvPr/>
        </p:nvPicPr>
        <p:blipFill>
          <a:blip r:embed="rId2"/>
          <a:stretch/>
        </p:blipFill>
        <p:spPr>
          <a:xfrm>
            <a:off x="6254640" y="1691640"/>
            <a:ext cx="2749680" cy="435204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  <p:sp>
        <p:nvSpPr>
          <p:cNvPr id="70" name="Podpis Frekwencja na wydarzeniach"/>
          <p:cNvSpPr/>
          <p:nvPr/>
        </p:nvSpPr>
        <p:spPr>
          <a:xfrm>
            <a:off x="6254640" y="6172200"/>
            <a:ext cx="274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Frekwencja na wydarzeniach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Aplikacja mobilna: menu i zamówienia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Zrzut"/>
          <p:cNvPicPr/>
          <p:nvPr/>
        </p:nvPicPr>
        <p:blipFill>
          <a:blip r:embed="rId1"/>
          <a:stretch/>
        </p:blipFill>
        <p:spPr>
          <a:xfrm>
            <a:off x="2581200" y="1691640"/>
            <a:ext cx="2130120" cy="435132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  <p:sp>
        <p:nvSpPr>
          <p:cNvPr id="73" name="Podpis Menu"/>
          <p:cNvSpPr/>
          <p:nvPr/>
        </p:nvSpPr>
        <p:spPr>
          <a:xfrm>
            <a:off x="2581200" y="6172200"/>
            <a:ext cx="2130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Menu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Zrzut"/>
          <p:cNvPicPr/>
          <p:nvPr/>
        </p:nvPicPr>
        <p:blipFill>
          <a:blip r:embed="rId2"/>
          <a:stretch/>
        </p:blipFill>
        <p:spPr>
          <a:xfrm>
            <a:off x="5032440" y="1691640"/>
            <a:ext cx="2142000" cy="435132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  <p:sp>
        <p:nvSpPr>
          <p:cNvPr id="75" name="Podpis Zamówienie"/>
          <p:cNvSpPr/>
          <p:nvPr/>
        </p:nvSpPr>
        <p:spPr>
          <a:xfrm>
            <a:off x="5032440" y="6172200"/>
            <a:ext cx="2142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Zamówienie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Zrzut"/>
          <p:cNvPicPr/>
          <p:nvPr/>
        </p:nvPicPr>
        <p:blipFill>
          <a:blip r:embed="rId3"/>
          <a:stretch/>
        </p:blipFill>
        <p:spPr>
          <a:xfrm>
            <a:off x="7495560" y="1691640"/>
            <a:ext cx="2111400" cy="435132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  <p:sp>
        <p:nvSpPr>
          <p:cNvPr id="77" name="Podpis Punkty lojalnościowe"/>
          <p:cNvSpPr/>
          <p:nvPr/>
        </p:nvSpPr>
        <p:spPr>
          <a:xfrm>
            <a:off x="7495560" y="6172200"/>
            <a:ext cx="2111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Punkty lojalnościowe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Aplikacja mobilna: wydarzenia i ulubione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Zrzut"/>
          <p:cNvPicPr/>
          <p:nvPr/>
        </p:nvPicPr>
        <p:blipFill>
          <a:blip r:embed="rId1"/>
          <a:stretch/>
        </p:blipFill>
        <p:spPr>
          <a:xfrm>
            <a:off x="3752280" y="1691640"/>
            <a:ext cx="2215800" cy="435132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  <p:sp>
        <p:nvSpPr>
          <p:cNvPr id="80" name="Podpis Wydarzenia"/>
          <p:cNvSpPr/>
          <p:nvPr/>
        </p:nvSpPr>
        <p:spPr>
          <a:xfrm>
            <a:off x="3752280" y="6172200"/>
            <a:ext cx="2215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Wydarzenia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Zrzut"/>
          <p:cNvPicPr/>
          <p:nvPr/>
        </p:nvPicPr>
        <p:blipFill>
          <a:blip r:embed="rId2"/>
          <a:stretch/>
        </p:blipFill>
        <p:spPr>
          <a:xfrm>
            <a:off x="6289200" y="1691640"/>
            <a:ext cx="2146680" cy="4351320"/>
          </a:xfrm>
          <a:prstGeom prst="rect">
            <a:avLst/>
          </a:prstGeom>
          <a:noFill/>
          <a:ln w="9525">
            <a:solidFill>
              <a:srgbClr val="C9BDBA"/>
            </a:solidFill>
            <a:round/>
          </a:ln>
        </p:spPr>
      </p:pic>
      <p:sp>
        <p:nvSpPr>
          <p:cNvPr id="82" name="Podpis Ulubione"/>
          <p:cNvSpPr/>
          <p:nvPr/>
        </p:nvSpPr>
        <p:spPr>
          <a:xfrm>
            <a:off x="6289200" y="6172200"/>
            <a:ext cx="2146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Ulubione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Wspólne API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67000" y="1225440"/>
            <a:ext cx="107841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A818D"/>
                </a:solidFill>
                <a:effectLst/>
                <a:uFillTx/>
                <a:latin typeface="Arial"/>
                <a:ea typeface="Arial"/>
              </a:rPr>
              <a:t>.NET, ASP.NET Core, PostgreSQL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Zrzut API"/>
          <p:cNvPicPr/>
          <p:nvPr/>
        </p:nvPicPr>
        <p:blipFill>
          <a:blip r:embed="rId1"/>
          <a:stretch/>
        </p:blipFill>
        <p:spPr>
          <a:xfrm>
            <a:off x="567000" y="1691640"/>
            <a:ext cx="11058480" cy="250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Shape 4"/>
          <p:cNvSpPr/>
          <p:nvPr/>
        </p:nvSpPr>
        <p:spPr>
          <a:xfrm>
            <a:off x="567000" y="4434840"/>
            <a:ext cx="5389200" cy="86292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914400" y="4795920"/>
            <a:ext cx="140400" cy="14040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1371600" y="4434840"/>
            <a:ext cx="424620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Udostępnianie tej samej logiki obu aplikacjom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6236280" y="4434840"/>
            <a:ext cx="5389200" cy="86292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6583680" y="4795920"/>
            <a:ext cx="140400" cy="14040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7040880" y="4434840"/>
            <a:ext cx="424620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Naliczanie cen brutto i podatku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567000" y="5486400"/>
            <a:ext cx="5389200" cy="86292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914400" y="5847480"/>
            <a:ext cx="140400" cy="14040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1371600" y="5486400"/>
            <a:ext cx="424620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Egzekwowanie uprawnień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6236280" y="5486400"/>
            <a:ext cx="5389200" cy="86292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6583680" y="5847480"/>
            <a:ext cx="140400" cy="14040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0200" tIns="45000" rIns="702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7040880" y="5486400"/>
            <a:ext cx="424620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Zapis w jednej bazie danych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Architektura API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Nota"/>
          <p:cNvSpPr/>
          <p:nvPr/>
        </p:nvSpPr>
        <p:spPr>
          <a:xfrm>
            <a:off x="567000" y="1271520"/>
            <a:ext cx="10604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3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Wycinki pionowe (vertical slices, features), z warstwowością tam, gdzie wymaga tego np. infrastruktura i persystencja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Etykieta L"/>
          <p:cNvSpPr/>
          <p:nvPr/>
        </p:nvSpPr>
        <p:spPr>
          <a:xfrm>
            <a:off x="567000" y="1673280"/>
            <a:ext cx="53467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600" b="1" u="none" strike="noStrike">
                <a:solidFill>
                  <a:srgbClr val="53749D"/>
                </a:solidFill>
                <a:effectLst/>
                <a:uFillTx/>
                <a:latin typeface="Arial"/>
                <a:ea typeface="Arial"/>
              </a:rPr>
              <a:t>Wycinek pionowy: Features/Products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anel L"/>
          <p:cNvSpPr/>
          <p:nvPr/>
        </p:nvSpPr>
        <p:spPr>
          <a:xfrm>
            <a:off x="567000" y="2057400"/>
            <a:ext cx="5346720" cy="415800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tIns="91440" rIns="137160" bIns="9144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Drzewo L"/>
          <p:cNvSpPr/>
          <p:nvPr/>
        </p:nvSpPr>
        <p:spPr>
          <a:xfrm>
            <a:off x="822960" y="2277000"/>
            <a:ext cx="4889520" cy="37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Features/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    Products/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Product.cs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ProductConfiguration.cs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        UseCases/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CA6067"/>
                </a:solidFill>
                <a:effectLst/>
                <a:uFillTx/>
                <a:latin typeface="Courier New"/>
                <a:ea typeface="Courier New"/>
              </a:rPr>
              <a:t>            AddProduct.cs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UpdateProduct.cs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DeleteProduct.cs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ListProducts.cs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GetProductById.cs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SetProductPrice.cs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AddProductImage.cs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UploadProductImage.cs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RemoveProductImage.cs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AttachTag.cs, DetachTag.cs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AttachAllergen.cs, DetachAllergen.cs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    AttachModifierGroup.cs, Detach…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Etykieta R"/>
          <p:cNvSpPr/>
          <p:nvPr/>
        </p:nvSpPr>
        <p:spPr>
          <a:xfrm>
            <a:off x="6282000" y="1673280"/>
            <a:ext cx="53467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600" b="1" u="none" strike="noStrike">
                <a:solidFill>
                  <a:srgbClr val="53749D"/>
                </a:solidFill>
                <a:effectLst/>
                <a:uFillTx/>
                <a:latin typeface="Arial"/>
                <a:ea typeface="Arial"/>
              </a:rPr>
              <a:t>Wspólne: Persistence/, Infrastructure/, Shared/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anel R"/>
          <p:cNvSpPr/>
          <p:nvPr/>
        </p:nvSpPr>
        <p:spPr>
          <a:xfrm>
            <a:off x="6282000" y="2057400"/>
            <a:ext cx="5346720" cy="415800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tIns="91440" rIns="137160" bIns="9144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Drzewo R"/>
          <p:cNvSpPr/>
          <p:nvPr/>
        </p:nvSpPr>
        <p:spPr>
          <a:xfrm>
            <a:off x="6537960" y="2277000"/>
            <a:ext cx="4889520" cy="37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Persistence/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AppDbContext.cs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    Interceptors/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AuditableSaveChangesInterceptor.cs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SoftDeletableSaveChangesInterceptor.cs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    Migrations/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    Seeding/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    StartupSeeder.cs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Infrastructure/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GlobalExceptionHandler.cs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1" u="none" strike="noStrike">
                <a:solidFill>
                  <a:srgbClr val="6FA8DC"/>
                </a:solidFill>
                <a:effectLst/>
                <a:uFillTx/>
                <a:latin typeface="Courier New"/>
                <a:ea typeface="Courier New"/>
              </a:rPr>
              <a:t>Shared/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Entities/, Errors/, Paging/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250"/>
              </a:lnSpc>
            </a:pPr>
            <a:r>
              <a:rPr lang="pl-PL" sz="1000" b="0" u="none" strike="noStrike">
                <a:solidFill>
                  <a:srgbClr val="FEF9F8"/>
                </a:solidFill>
                <a:effectLst/>
                <a:uFillTx/>
                <a:latin typeface="Courier New"/>
                <a:ea typeface="Courier New"/>
              </a:rPr>
              <a:t>    ValidationFilter.cs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odpis L"/>
          <p:cNvSpPr/>
          <p:nvPr/>
        </p:nvSpPr>
        <p:spPr>
          <a:xfrm>
            <a:off x="567000" y="6355080"/>
            <a:ext cx="5346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300" b="1" u="none" strike="noStrike">
                <a:solidFill>
                  <a:srgbClr val="53749D"/>
                </a:solidFill>
                <a:effectLst/>
                <a:uFillTx/>
                <a:latin typeface="Arial"/>
                <a:ea typeface="Arial"/>
              </a:rPr>
              <a:t>Wiele przypadków użycia w jednym katalogu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odpis R"/>
          <p:cNvSpPr/>
          <p:nvPr/>
        </p:nvSpPr>
        <p:spPr>
          <a:xfrm>
            <a:off x="6282000" y="6355080"/>
            <a:ext cx="5346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00000"/>
              </a:lnSpc>
            </a:pPr>
            <a:r>
              <a:rPr lang="pl-PL" sz="1300" b="1" u="none" strike="noStrike">
                <a:solidFill>
                  <a:srgbClr val="53749D"/>
                </a:solidFill>
                <a:effectLst/>
                <a:uFillTx/>
                <a:latin typeface="Arial"/>
                <a:ea typeface="Arial"/>
              </a:rPr>
              <a:t>Współdzielone przez wszystkie funkcje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Droga żądania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odtytul"/>
          <p:cNvSpPr/>
          <p:nvPr/>
        </p:nvSpPr>
        <p:spPr>
          <a:xfrm>
            <a:off x="567000" y="1115640"/>
            <a:ext cx="10603800" cy="28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pl-PL" sz="1300" b="0" u="none" strike="noStrike">
                <a:solidFill>
                  <a:srgbClr val="7A818D"/>
                </a:solidFill>
                <a:effectLst/>
                <a:uFillTx/>
                <a:latin typeface="Arial"/>
                <a:ea typeface="Arial"/>
              </a:rPr>
              <a:t>POST /api/products, od klienta do przypadku użycia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Etap Klient"/>
          <p:cNvSpPr/>
          <p:nvPr/>
        </p:nvSpPr>
        <p:spPr>
          <a:xfrm>
            <a:off x="567000" y="1874520"/>
            <a:ext cx="2419920" cy="104832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 algn="ctr">
              <a:lnSpc>
                <a:spcPct val="100000"/>
              </a:lnSpc>
              <a:spcAft>
                <a:spcPts val="249"/>
              </a:spcAft>
            </a:pPr>
            <a:r>
              <a:rPr lang="pl-PL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Klient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l-PL" sz="12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web / mobile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trzalka Klient"/>
          <p:cNvSpPr/>
          <p:nvPr/>
        </p:nvSpPr>
        <p:spPr>
          <a:xfrm>
            <a:off x="3035880" y="2272320"/>
            <a:ext cx="362520" cy="252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Etap Uwierz"/>
          <p:cNvSpPr/>
          <p:nvPr/>
        </p:nvSpPr>
        <p:spPr>
          <a:xfrm>
            <a:off x="3447360" y="1874520"/>
            <a:ext cx="2419920" cy="104832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 algn="ctr">
              <a:lnSpc>
                <a:spcPct val="100000"/>
              </a:lnSpc>
              <a:spcAft>
                <a:spcPts val="249"/>
              </a:spcAft>
            </a:pPr>
            <a:r>
              <a:rPr lang="pl-PL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Uwierzytelnianie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l-PL" sz="12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JWT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trzalka Uwierz"/>
          <p:cNvSpPr/>
          <p:nvPr/>
        </p:nvSpPr>
        <p:spPr>
          <a:xfrm>
            <a:off x="5916240" y="2272320"/>
            <a:ext cx="362520" cy="252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Etap Autor"/>
          <p:cNvSpPr/>
          <p:nvPr/>
        </p:nvSpPr>
        <p:spPr>
          <a:xfrm>
            <a:off x="6327720" y="1874520"/>
            <a:ext cx="2419920" cy="104832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 algn="ctr">
              <a:lnSpc>
                <a:spcPct val="100000"/>
              </a:lnSpc>
              <a:spcAft>
                <a:spcPts val="249"/>
              </a:spcAft>
            </a:pPr>
            <a:r>
              <a:rPr lang="pl-PL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Autoryzacja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l-PL" sz="12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uprawnienia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trzalka Autor"/>
          <p:cNvSpPr/>
          <p:nvPr/>
        </p:nvSpPr>
        <p:spPr>
          <a:xfrm>
            <a:off x="8796600" y="2272320"/>
            <a:ext cx="362520" cy="252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Etap Walid"/>
          <p:cNvSpPr/>
          <p:nvPr/>
        </p:nvSpPr>
        <p:spPr>
          <a:xfrm>
            <a:off x="9208080" y="1874520"/>
            <a:ext cx="2419920" cy="1048320"/>
          </a:xfrm>
          <a:prstGeom prst="rect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 algn="ctr">
              <a:lnSpc>
                <a:spcPct val="100000"/>
              </a:lnSpc>
              <a:spcAft>
                <a:spcPts val="249"/>
              </a:spcAft>
            </a:pPr>
            <a:r>
              <a:rPr lang="pl-PL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Walidacja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l-PL" sz="12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filtr + walidator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Laczenie UC"/>
          <p:cNvSpPr/>
          <p:nvPr/>
        </p:nvSpPr>
        <p:spPr>
          <a:xfrm>
            <a:off x="6080760" y="2926080"/>
            <a:ext cx="33480" cy="62784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tIns="45000" rIns="16920" bIns="4500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rot UC"/>
          <p:cNvSpPr/>
          <p:nvPr/>
        </p:nvSpPr>
        <p:spPr>
          <a:xfrm flipV="1">
            <a:off x="5970960" y="3553560"/>
            <a:ext cx="252720" cy="179640"/>
          </a:xfrm>
          <a:prstGeom prst="triangle">
            <a:avLst>
              <a:gd name="adj" fmla="val 50000"/>
            </a:avLst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Przypadek uzycia"/>
          <p:cNvSpPr/>
          <p:nvPr/>
        </p:nvSpPr>
        <p:spPr>
          <a:xfrm>
            <a:off x="3355920" y="3703320"/>
            <a:ext cx="5483160" cy="1048320"/>
          </a:xfrm>
          <a:prstGeom prst="rect">
            <a:avLst/>
          </a:prstGeom>
          <a:solidFill>
            <a:srgbClr val="5374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 algn="ctr">
              <a:lnSpc>
                <a:spcPct val="100000"/>
              </a:lnSpc>
              <a:spcAft>
                <a:spcPts val="249"/>
              </a:spcAft>
            </a:pPr>
            <a:r>
              <a:rPr lang="pl-PL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Przypadek użycia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l-PL" sz="12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AddProduct: Controller → Execute → encja → EF Core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Laczenie DB"/>
          <p:cNvSpPr/>
          <p:nvPr/>
        </p:nvSpPr>
        <p:spPr>
          <a:xfrm>
            <a:off x="6080760" y="4754880"/>
            <a:ext cx="33480" cy="53640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920" tIns="45000" rIns="16920" bIns="4500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rot DB"/>
          <p:cNvSpPr/>
          <p:nvPr/>
        </p:nvSpPr>
        <p:spPr>
          <a:xfrm flipV="1">
            <a:off x="5970960" y="5290920"/>
            <a:ext cx="252720" cy="179640"/>
          </a:xfrm>
          <a:prstGeom prst="triangle">
            <a:avLst>
              <a:gd name="adj" fmla="val 50000"/>
            </a:avLst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Baza"/>
          <p:cNvSpPr/>
          <p:nvPr/>
        </p:nvSpPr>
        <p:spPr>
          <a:xfrm>
            <a:off x="4841640" y="5440680"/>
            <a:ext cx="2511360" cy="774000"/>
          </a:xfrm>
          <a:prstGeom prst="rect">
            <a:avLst/>
          </a:prstGeom>
          <a:solidFill>
            <a:srgbClr val="181B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noAutofit/>
          </a:bodyPr>
          <a:p>
            <a:pPr algn="ctr">
              <a:lnSpc>
                <a:spcPct val="100000"/>
              </a:lnSpc>
              <a:spcAft>
                <a:spcPts val="249"/>
              </a:spcAft>
            </a:pPr>
            <a:r>
              <a:rPr lang="pl-PL" sz="17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PostgreSQL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Technologie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as API"/>
          <p:cNvSpPr/>
          <p:nvPr/>
        </p:nvSpPr>
        <p:spPr>
          <a:xfrm>
            <a:off x="567000" y="1463040"/>
            <a:ext cx="11059920" cy="155016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Etykieta API"/>
          <p:cNvSpPr/>
          <p:nvPr/>
        </p:nvSpPr>
        <p:spPr>
          <a:xfrm>
            <a:off x="567000" y="1554480"/>
            <a:ext cx="110599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CA6067"/>
                </a:solidFill>
                <a:effectLst/>
                <a:uFillTx/>
                <a:latin typeface="Arial"/>
                <a:ea typeface="Arial"/>
              </a:rPr>
              <a:t>API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Logo .NET 10" descr=".NET 10"/>
          <p:cNvPicPr/>
          <p:nvPr/>
        </p:nvPicPr>
        <p:blipFill>
          <a:blip r:embed="rId1"/>
          <a:stretch/>
        </p:blipFill>
        <p:spPr>
          <a:xfrm>
            <a:off x="2967120" y="192024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Nazwa .NET 10"/>
          <p:cNvSpPr/>
          <p:nvPr/>
        </p:nvSpPr>
        <p:spPr>
          <a:xfrm>
            <a:off x="2258640" y="246888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.NET 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Logo C# 14" descr="C# 14"/>
          <p:cNvPicPr/>
          <p:nvPr/>
        </p:nvPicPr>
        <p:blipFill>
          <a:blip r:embed="rId2"/>
          <a:stretch/>
        </p:blipFill>
        <p:spPr>
          <a:xfrm>
            <a:off x="4887360" y="192024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Nazwa C# 14"/>
          <p:cNvSpPr/>
          <p:nvPr/>
        </p:nvSpPr>
        <p:spPr>
          <a:xfrm>
            <a:off x="4178880" y="246888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C# 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Logo PostgreSQL" descr="PostgreSQL"/>
          <p:cNvPicPr/>
          <p:nvPr/>
        </p:nvPicPr>
        <p:blipFill>
          <a:blip r:embed="rId3"/>
          <a:stretch/>
        </p:blipFill>
        <p:spPr>
          <a:xfrm>
            <a:off x="6807600" y="192024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Nazwa PostgreSQL"/>
          <p:cNvSpPr/>
          <p:nvPr/>
        </p:nvSpPr>
        <p:spPr>
          <a:xfrm>
            <a:off x="6099120" y="246888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PostgreSQL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Logo JWT" descr="JWT"/>
          <p:cNvPicPr/>
          <p:nvPr/>
        </p:nvPicPr>
        <p:blipFill>
          <a:blip r:embed="rId4"/>
          <a:stretch/>
        </p:blipFill>
        <p:spPr>
          <a:xfrm>
            <a:off x="8727840" y="192024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Nazwa JWT"/>
          <p:cNvSpPr/>
          <p:nvPr/>
        </p:nvSpPr>
        <p:spPr>
          <a:xfrm>
            <a:off x="8019360" y="246888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JWT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szta API"/>
          <p:cNvSpPr/>
          <p:nvPr/>
        </p:nvSpPr>
        <p:spPr>
          <a:xfrm>
            <a:off x="567000" y="2724840"/>
            <a:ext cx="11059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100" b="0" u="none" strike="noStrike">
                <a:solidFill>
                  <a:srgbClr val="7A818D"/>
                </a:solidFill>
                <a:effectLst/>
                <a:uFillTx/>
                <a:latin typeface="Arial"/>
                <a:ea typeface="Arial"/>
              </a:rPr>
              <a:t>ASP.NET Core, EF Core, FluentValidation, QuestPDF, ClosedXML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as Web"/>
          <p:cNvSpPr/>
          <p:nvPr/>
        </p:nvSpPr>
        <p:spPr>
          <a:xfrm>
            <a:off x="567000" y="3154680"/>
            <a:ext cx="11059920" cy="155016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Etykieta Web"/>
          <p:cNvSpPr/>
          <p:nvPr/>
        </p:nvSpPr>
        <p:spPr>
          <a:xfrm>
            <a:off x="567000" y="3246120"/>
            <a:ext cx="110599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53749D"/>
                </a:solidFill>
                <a:effectLst/>
                <a:uFillTx/>
                <a:latin typeface="Arial"/>
                <a:ea typeface="Arial"/>
              </a:rPr>
              <a:t>Web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Logo Next.js 16" descr="Next.js 16"/>
          <p:cNvPicPr/>
          <p:nvPr/>
        </p:nvPicPr>
        <p:blipFill>
          <a:blip r:embed="rId5"/>
          <a:stretch/>
        </p:blipFill>
        <p:spPr>
          <a:xfrm>
            <a:off x="2967120" y="361188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Nazwa Next.js 16"/>
          <p:cNvSpPr/>
          <p:nvPr/>
        </p:nvSpPr>
        <p:spPr>
          <a:xfrm>
            <a:off x="2258640" y="416052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Next.js 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Logo React 19" descr="React 19"/>
          <p:cNvPicPr/>
          <p:nvPr/>
        </p:nvPicPr>
        <p:blipFill>
          <a:blip r:embed="rId6"/>
          <a:stretch/>
        </p:blipFill>
        <p:spPr>
          <a:xfrm>
            <a:off x="4887360" y="361188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Nazwa React 19"/>
          <p:cNvSpPr/>
          <p:nvPr/>
        </p:nvSpPr>
        <p:spPr>
          <a:xfrm>
            <a:off x="4178880" y="416052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React 19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Logo TypeScript" descr="TypeScript"/>
          <p:cNvPicPr/>
          <p:nvPr/>
        </p:nvPicPr>
        <p:blipFill>
          <a:blip r:embed="rId7"/>
          <a:stretch/>
        </p:blipFill>
        <p:spPr>
          <a:xfrm>
            <a:off x="6807600" y="361188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Nazwa TypeScript"/>
          <p:cNvSpPr/>
          <p:nvPr/>
        </p:nvSpPr>
        <p:spPr>
          <a:xfrm>
            <a:off x="6099120" y="416052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TypeScript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Logo Tailwind CSS 4" descr="Tailwind CSS 4"/>
          <p:cNvPicPr/>
          <p:nvPr/>
        </p:nvPicPr>
        <p:blipFill>
          <a:blip r:embed="rId8"/>
          <a:stretch/>
        </p:blipFill>
        <p:spPr>
          <a:xfrm>
            <a:off x="8727840" y="361188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Nazwa Tailwind CSS 4"/>
          <p:cNvSpPr/>
          <p:nvPr/>
        </p:nvSpPr>
        <p:spPr>
          <a:xfrm>
            <a:off x="8019360" y="416052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Tailwind CSS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szta Web"/>
          <p:cNvSpPr/>
          <p:nvPr/>
        </p:nvSpPr>
        <p:spPr>
          <a:xfrm>
            <a:off x="567000" y="4416480"/>
            <a:ext cx="11059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100" b="0" u="none" strike="noStrike">
                <a:solidFill>
                  <a:srgbClr val="7A818D"/>
                </a:solidFill>
                <a:effectLst/>
                <a:uFillTx/>
                <a:latin typeface="Arial"/>
                <a:ea typeface="Arial"/>
              </a:rPr>
              <a:t>Recharts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as Mobile"/>
          <p:cNvSpPr/>
          <p:nvPr/>
        </p:nvSpPr>
        <p:spPr>
          <a:xfrm>
            <a:off x="567000" y="4846320"/>
            <a:ext cx="11059920" cy="1550160"/>
          </a:xfrm>
          <a:prstGeom prst="rect">
            <a:avLst/>
          </a:prstGeom>
          <a:solidFill>
            <a:srgbClr val="F5EE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Etykieta Mobile"/>
          <p:cNvSpPr/>
          <p:nvPr/>
        </p:nvSpPr>
        <p:spPr>
          <a:xfrm>
            <a:off x="567000" y="4937760"/>
            <a:ext cx="110599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6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Mobile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Logo Expo 54" descr="Expo 54"/>
          <p:cNvPicPr/>
          <p:nvPr/>
        </p:nvPicPr>
        <p:blipFill>
          <a:blip r:embed="rId9"/>
          <a:stretch/>
        </p:blipFill>
        <p:spPr>
          <a:xfrm>
            <a:off x="4887360" y="530352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Nazwa Expo 54"/>
          <p:cNvSpPr/>
          <p:nvPr/>
        </p:nvSpPr>
        <p:spPr>
          <a:xfrm>
            <a:off x="4178880" y="585216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Expo 54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Logo React Native 0.81" descr="React Native 0.81"/>
          <p:cNvPicPr/>
          <p:nvPr/>
        </p:nvPicPr>
        <p:blipFill>
          <a:blip r:embed="rId10"/>
          <a:stretch/>
        </p:blipFill>
        <p:spPr>
          <a:xfrm>
            <a:off x="6807600" y="5303520"/>
            <a:ext cx="498600" cy="4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Nazwa React Native 0.81"/>
          <p:cNvSpPr/>
          <p:nvPr/>
        </p:nvSpPr>
        <p:spPr>
          <a:xfrm>
            <a:off x="6099120" y="5852160"/>
            <a:ext cx="1915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2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React Native 0.81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szta Mobile"/>
          <p:cNvSpPr/>
          <p:nvPr/>
        </p:nvSpPr>
        <p:spPr>
          <a:xfrm>
            <a:off x="567000" y="6108120"/>
            <a:ext cx="11059920" cy="2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1100" b="0" u="none" strike="noStrike">
                <a:solidFill>
                  <a:srgbClr val="7A818D"/>
                </a:solidFill>
                <a:effectLst/>
                <a:uFillTx/>
                <a:latin typeface="Arial"/>
                <a:ea typeface="Arial"/>
              </a:rPr>
              <a:t>NativeWind, Zustand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Produkty i menu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"/>
          <p:cNvSpPr/>
          <p:nvPr/>
        </p:nvSpPr>
        <p:spPr>
          <a:xfrm>
            <a:off x="567000" y="1572840"/>
            <a:ext cx="11058480" cy="47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0" descr="/Users/dariusz-lusnia-hq/git/cafe-rms/docs/presentation/diagrams/db-1-produkty.png"/>
          <p:cNvPicPr/>
          <p:nvPr/>
        </p:nvPicPr>
        <p:blipFill>
          <a:blip r:embed="rId1"/>
          <a:stretch/>
        </p:blipFill>
        <p:spPr>
          <a:xfrm>
            <a:off x="1143360" y="1672920"/>
            <a:ext cx="9905760" cy="454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Zamówienia i program lojalnościowy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"/>
          <p:cNvSpPr/>
          <p:nvPr/>
        </p:nvSpPr>
        <p:spPr>
          <a:xfrm>
            <a:off x="567000" y="1572840"/>
            <a:ext cx="11058480" cy="47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Image 0" descr="/Users/dariusz-lusnia-hq/git/cafe-rms/docs/presentation/diagrams/db-3-zamowienia.png"/>
          <p:cNvPicPr/>
          <p:nvPr/>
        </p:nvPicPr>
        <p:blipFill>
          <a:blip r:embed="rId1"/>
          <a:stretch/>
        </p:blipFill>
        <p:spPr>
          <a:xfrm>
            <a:off x="2733840" y="1672920"/>
            <a:ext cx="6725160" cy="454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E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81B1F"/>
                </a:solidFill>
                <a:effectLst/>
                <a:uFillTx/>
                <a:latin typeface="Arial"/>
                <a:ea typeface="Arial"/>
              </a:rPr>
              <a:t>Wydarzenia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567000" y="1572840"/>
            <a:ext cx="11058480" cy="47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B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Image 0" descr="/Users/dariusz-lusnia-hq/git/cafe-rms/docs/presentation/diagrams/db-3-zamowienia.png"/>
          <p:cNvPicPr/>
          <p:nvPr/>
        </p:nvPicPr>
        <p:blipFill>
          <a:blip r:embed="rId1"/>
          <a:stretch/>
        </p:blipFill>
        <p:spPr>
          <a:xfrm>
            <a:off x="2849400" y="1672920"/>
            <a:ext cx="6493680" cy="454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67000" y="457200"/>
            <a:ext cx="10784160" cy="7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Wnioski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Naglowek 0"/>
          <p:cNvSpPr/>
          <p:nvPr/>
        </p:nvSpPr>
        <p:spPr>
          <a:xfrm>
            <a:off x="567000" y="1600200"/>
            <a:ext cx="53456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1400" b="1" u="none" strike="noStrike">
                <a:solidFill>
                  <a:srgbClr val="8FAFD6"/>
                </a:solidFill>
                <a:effectLst/>
                <a:uFillTx/>
                <a:latin typeface="Arial"/>
                <a:ea typeface="Arial"/>
              </a:rPr>
              <a:t>Co się sprawdziło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Karta 0.0"/>
          <p:cNvSpPr/>
          <p:nvPr/>
        </p:nvSpPr>
        <p:spPr>
          <a:xfrm>
            <a:off x="567000" y="2103120"/>
            <a:ext cx="5345640" cy="865080"/>
          </a:xfrm>
          <a:prstGeom prst="rect">
            <a:avLst/>
          </a:prstGeom>
          <a:solidFill>
            <a:srgbClr val="262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Kolo 0.0"/>
          <p:cNvSpPr/>
          <p:nvPr/>
        </p:nvSpPr>
        <p:spPr>
          <a:xfrm>
            <a:off x="731520" y="2253960"/>
            <a:ext cx="563400" cy="563400"/>
          </a:xfrm>
          <a:prstGeom prst="ellipse">
            <a:avLst/>
          </a:prstGeom>
          <a:solidFill>
            <a:srgbClr val="5374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Ikona layers" descr="layers"/>
          <p:cNvPicPr/>
          <p:nvPr/>
        </p:nvPicPr>
        <p:blipFill>
          <a:blip r:embed="rId1"/>
          <a:stretch/>
        </p:blipFill>
        <p:spPr>
          <a:xfrm>
            <a:off x="873360" y="239580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kst 0.0"/>
          <p:cNvSpPr/>
          <p:nvPr/>
        </p:nvSpPr>
        <p:spPr>
          <a:xfrm>
            <a:off x="1481400" y="2103120"/>
            <a:ext cx="424836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1600" b="1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Architektura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Karta 0.1"/>
          <p:cNvSpPr/>
          <p:nvPr/>
        </p:nvSpPr>
        <p:spPr>
          <a:xfrm>
            <a:off x="567000" y="3127320"/>
            <a:ext cx="5345640" cy="865080"/>
          </a:xfrm>
          <a:prstGeom prst="rect">
            <a:avLst/>
          </a:prstGeom>
          <a:solidFill>
            <a:srgbClr val="262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Kolo 0.1"/>
          <p:cNvSpPr/>
          <p:nvPr/>
        </p:nvSpPr>
        <p:spPr>
          <a:xfrm>
            <a:off x="731520" y="3278160"/>
            <a:ext cx="563400" cy="563400"/>
          </a:xfrm>
          <a:prstGeom prst="ellipse">
            <a:avLst/>
          </a:prstGeom>
          <a:solidFill>
            <a:srgbClr val="5374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" name="Ikona plug" descr="server"/>
          <p:cNvPicPr/>
          <p:nvPr/>
        </p:nvPicPr>
        <p:blipFill>
          <a:blip r:embed="rId2"/>
          <a:stretch/>
        </p:blipFill>
        <p:spPr>
          <a:xfrm>
            <a:off x="873360" y="342000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Tekst 0.1"/>
          <p:cNvSpPr/>
          <p:nvPr/>
        </p:nvSpPr>
        <p:spPr>
          <a:xfrm>
            <a:off x="1481400" y="3127320"/>
            <a:ext cx="424836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1600" b="1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Sprawdzony stos technologiczny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Karta 0.2"/>
          <p:cNvSpPr/>
          <p:nvPr/>
        </p:nvSpPr>
        <p:spPr>
          <a:xfrm>
            <a:off x="567000" y="4151520"/>
            <a:ext cx="5345640" cy="865080"/>
          </a:xfrm>
          <a:prstGeom prst="rect">
            <a:avLst/>
          </a:prstGeom>
          <a:solidFill>
            <a:srgbClr val="262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Kolo 0.2"/>
          <p:cNvSpPr/>
          <p:nvPr/>
        </p:nvSpPr>
        <p:spPr>
          <a:xfrm>
            <a:off x="731520" y="4302360"/>
            <a:ext cx="563400" cy="563400"/>
          </a:xfrm>
          <a:prstGeom prst="ellipse">
            <a:avLst/>
          </a:prstGeom>
          <a:solidFill>
            <a:srgbClr val="53749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" name="Ikona tag" descr="building-2"/>
          <p:cNvPicPr/>
          <p:nvPr/>
        </p:nvPicPr>
        <p:blipFill>
          <a:blip r:embed="rId3"/>
          <a:stretch/>
        </p:blipFill>
        <p:spPr>
          <a:xfrm>
            <a:off x="873360" y="444384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kst 0.2"/>
          <p:cNvSpPr/>
          <p:nvPr/>
        </p:nvSpPr>
        <p:spPr>
          <a:xfrm>
            <a:off x="1481400" y="4151520"/>
            <a:ext cx="424836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1600" b="1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Rezygnacja z multi-tenant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Naglowek 1"/>
          <p:cNvSpPr/>
          <p:nvPr/>
        </p:nvSpPr>
        <p:spPr>
          <a:xfrm>
            <a:off x="6282000" y="1600200"/>
            <a:ext cx="53456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1400" b="1" u="none" strike="noStrike">
                <a:solidFill>
                  <a:srgbClr val="CA6067"/>
                </a:solidFill>
                <a:effectLst/>
                <a:uFillTx/>
                <a:latin typeface="Arial"/>
                <a:ea typeface="Arial"/>
              </a:rPr>
              <a:t>Ograniczenia i potencjał do rozwoju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Karta 1.0"/>
          <p:cNvSpPr/>
          <p:nvPr/>
        </p:nvSpPr>
        <p:spPr>
          <a:xfrm>
            <a:off x="6282000" y="2103120"/>
            <a:ext cx="5345640" cy="865080"/>
          </a:xfrm>
          <a:prstGeom prst="rect">
            <a:avLst/>
          </a:prstGeom>
          <a:solidFill>
            <a:srgbClr val="262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Kolo 1.0"/>
          <p:cNvSpPr/>
          <p:nvPr/>
        </p:nvSpPr>
        <p:spPr>
          <a:xfrm>
            <a:off x="6446520" y="2253960"/>
            <a:ext cx="563400" cy="563400"/>
          </a:xfrm>
          <a:prstGeom prst="ellipse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Ikona ban" descr="ban"/>
          <p:cNvPicPr/>
          <p:nvPr/>
        </p:nvPicPr>
        <p:blipFill>
          <a:blip r:embed="rId4"/>
          <a:stretch/>
        </p:blipFill>
        <p:spPr>
          <a:xfrm>
            <a:off x="6588360" y="239580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kst 1.0"/>
          <p:cNvSpPr/>
          <p:nvPr/>
        </p:nvSpPr>
        <p:spPr>
          <a:xfrm>
            <a:off x="7196400" y="2103120"/>
            <a:ext cx="424836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16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Brak możliwości płatności i fiskalizacji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Karta 1.1"/>
          <p:cNvSpPr/>
          <p:nvPr/>
        </p:nvSpPr>
        <p:spPr>
          <a:xfrm>
            <a:off x="6282000" y="3127320"/>
            <a:ext cx="5345640" cy="865080"/>
          </a:xfrm>
          <a:prstGeom prst="rect">
            <a:avLst/>
          </a:prstGeom>
          <a:solidFill>
            <a:srgbClr val="262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Kolo 1.1"/>
          <p:cNvSpPr/>
          <p:nvPr/>
        </p:nvSpPr>
        <p:spPr>
          <a:xfrm>
            <a:off x="6446520" y="3278160"/>
            <a:ext cx="563400" cy="563400"/>
          </a:xfrm>
          <a:prstGeom prst="ellipse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Ikona refresh-cw" descr="refresh-cw"/>
          <p:cNvPicPr/>
          <p:nvPr/>
        </p:nvPicPr>
        <p:blipFill>
          <a:blip r:embed="rId5"/>
          <a:stretch/>
        </p:blipFill>
        <p:spPr>
          <a:xfrm>
            <a:off x="6588360" y="342000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kst 1.1"/>
          <p:cNvSpPr/>
          <p:nvPr/>
        </p:nvSpPr>
        <p:spPr>
          <a:xfrm>
            <a:off x="7196400" y="3127320"/>
            <a:ext cx="424836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16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Panel odświeża zamówienia cyklicznie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Karta 1.2"/>
          <p:cNvSpPr/>
          <p:nvPr/>
        </p:nvSpPr>
        <p:spPr>
          <a:xfrm>
            <a:off x="6282000" y="4151520"/>
            <a:ext cx="5345640" cy="865080"/>
          </a:xfrm>
          <a:prstGeom prst="rect">
            <a:avLst/>
          </a:prstGeom>
          <a:solidFill>
            <a:srgbClr val="262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Kolo 1.2"/>
          <p:cNvSpPr/>
          <p:nvPr/>
        </p:nvSpPr>
        <p:spPr>
          <a:xfrm>
            <a:off x="6446520" y="4302360"/>
            <a:ext cx="563400" cy="563400"/>
          </a:xfrm>
          <a:prstGeom prst="ellipse">
            <a:avLst/>
          </a:prstGeom>
          <a:solidFill>
            <a:srgbClr val="CA606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" name="Ikona store" descr="store"/>
          <p:cNvPicPr/>
          <p:nvPr/>
        </p:nvPicPr>
        <p:blipFill>
          <a:blip r:embed="rId6"/>
          <a:stretch/>
        </p:blipFill>
        <p:spPr>
          <a:xfrm>
            <a:off x="6588360" y="4443840"/>
            <a:ext cx="279720" cy="27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ekst 1.2"/>
          <p:cNvSpPr/>
          <p:nvPr/>
        </p:nvSpPr>
        <p:spPr>
          <a:xfrm>
            <a:off x="7196400" y="4151520"/>
            <a:ext cx="4248360" cy="86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pl-PL" sz="1600" b="0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Jedna instancja aplikacja – jeden lokal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Podziekowanie"/>
          <p:cNvSpPr/>
          <p:nvPr/>
        </p:nvSpPr>
        <p:spPr>
          <a:xfrm>
            <a:off x="567000" y="5440680"/>
            <a:ext cx="11060640" cy="8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pl-PL" sz="3200" b="1" u="none" strike="noStrike">
                <a:solidFill>
                  <a:srgbClr val="FEF9F8"/>
                </a:solidFill>
                <a:effectLst/>
                <a:uFillTx/>
                <a:latin typeface="Arial"/>
                <a:ea typeface="Arial"/>
              </a:rPr>
              <a:t>Dziękuję za uwagę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2641</TotalTime>
  <Application>LibreOffice/26.8.0.3$MacOSX_AARCH64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2026-09-19T23:09:37Z</dcterms:created>
  <dc:creator>Dariusz Luśnia</dc:creator>
  <dc:description/>
  <dc:language>en-US</dc:language>
  <cp:lastModifiedBy/>
  <dcterms:modified xsi:type="dcterms:W3CDTF">2026-09-22T23:23:04Z</dcterms:modified>
  <cp:revision>45</cp:revision>
  <dc:subject>PptxGenJS Presentation</dc:subject>
  <dc:title>CafeRMS – projekt inżynierski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